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0" y="914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PROTECTION SERVICES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0" y="2148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80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EMBA CAPSTONE |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0" y="2514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Strategic Analysis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Protection Services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Convergence Squeeze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23360" y="4069080"/>
            <a:ext cx="1097280" cy="228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4206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  |  Eger  |  McKean  |  Peat  |  Tucker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4572000"/>
            <a:ext cx="5486400" cy="777240"/>
          </a:xfrm>
          <a:prstGeom prst="rect">
            <a:avLst/>
          </a:prstGeom>
          <a:solidFill>
            <a:srgbClr val="F5F5F8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4572000"/>
            <a:ext cx="54864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461772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B3A6B"/>
                </a:solidFill>
              </a:rPr>
              <a:t>ONE-SENTENCE THESIS
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1A1A1F"/>
                </a:solidFill>
              </a:rPr>
              <a:t>The fire and security industry is converging with IT, cybersecurity, and building automation into a single building intelligence industry. PE firms are assembling the pieces, and IPS has a 3–5 year window to position as the independent alternative.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502920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AJ McKean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572000" y="5029200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B0B4BF"/>
                </a:solidFill>
              </a:rPr>
              <a:t>Confidential — Prepared for IPS Leadership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1: THE PLAYING FIELD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Industries, One Set of Forces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AJ McKean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502920"/>
          </a:xfrm>
          <a:prstGeom prst="rect">
            <a:avLst/>
          </a:prstGeom>
          <a:solidFill>
            <a:srgbClr val="C820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241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8202D"/>
                </a:solidFill>
              </a:rPr>
              <a:t>NAICS 238210
</a:t>
            </a:r>
            <a:endParaRPr lang="en-US" sz="7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1F"/>
                </a:solidFill>
              </a:rPr>
              <a:t>Fire Protection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848F"/>
                </a:solidFill>
              </a:rPr>
              <a:t>$223.6B · code-mandated, high barrier, NICET/UL/AHJ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84048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288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F"/>
                </a:solidFill>
              </a:rPr>
              <a:t>Fire Alarm Systems — Detection, notification, control panels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384048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128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F"/>
                </a:solidFill>
              </a:rPr>
              <a:t>Fire Suppression — Sprinkler, clean agent, foam systems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384048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968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F"/>
                </a:solidFill>
              </a:rPr>
              <a:t>Inspection &amp; Testing — Code-mandated annual/semi-annual service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384048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809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F"/>
                </a:solidFill>
              </a:rPr>
              <a:t>Emergency Systems — Exit lighting, mass notification, ERCES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846320" y="1051560"/>
            <a:ext cx="54864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0241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</a:rPr>
              <a:t>NAICS 561621
</a:t>
            </a:r>
            <a:endParaRPr lang="en-US" sz="7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1F"/>
                </a:solidFill>
              </a:rPr>
              <a:t>Electronic Security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029200" y="15544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848F"/>
                </a:solidFill>
              </a:rPr>
              <a:t>$33.2B · lightly regulated, fragmented, subscription/cloud shift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384048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8288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F"/>
                </a:solidFill>
              </a:rPr>
              <a:t>Access Control — Card readers, credential management, ACaaS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46320" y="2212848"/>
            <a:ext cx="384048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2128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F"/>
                </a:solidFill>
              </a:rPr>
              <a:t>Video Surveillance — IP cameras, VMS, AI analytics, VSaaS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46320" y="2596896"/>
            <a:ext cx="384048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5968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F"/>
                </a:solidFill>
              </a:rPr>
              <a:t>Intrusion Detection — Sensors, panels, monitoring services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46320" y="2980944"/>
            <a:ext cx="384048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9809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F"/>
                </a:solidFill>
              </a:rPr>
              <a:t>Managed Services — Remote monitoring, health checks, helpdesk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206240" y="237744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solidFill>
            <a:srgbClr val="F5F5F8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429000"/>
            <a:ext cx="4572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F"/>
                </a:solidFill>
              </a:rPr>
              <a:t>Different regulation, different barriers, different buyer dynamics — but same buildings, same EC channel, same IP infrastructure, same labor pool, same PE capital consolidating both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977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$256B+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4360" y="4343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AAAAA"/>
                </a:solidFill>
              </a:rPr>
              <a:t>Combined addressable market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2221992" y="3977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6,136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221992" y="4343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AAAAA"/>
                </a:solidFill>
              </a:rPr>
              <a:t>Security firms nationally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849624" y="3977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$4.79M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849624" y="4343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AAAAA"/>
                </a:solidFill>
              </a:rPr>
              <a:t>Avg. firm rev (IPS = top tier)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5477256" y="3977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16–18%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77256" y="4343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AAAAA"/>
                </a:solidFill>
              </a:rPr>
              <a:t>Cloud/XaaS CAGR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7104888" y="3977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7.5%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04888" y="4343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AAAAA"/>
                </a:solidFill>
              </a:rPr>
              <a:t>Fire systems CAGR 2025–35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Sources: Plunkett Research via Xavier/Gale (NAICS 561621, 238210) · SDM Magazine Top 100 (2024) · MarketsandMarkets · Grand View Research · IBISWorld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1: THE PLAYING FIELD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Demand Environment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AJ McKean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 of 17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0" y="1024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F"/>
                </a:solidFill>
              </a:rPr>
              <a:t>macro trends favorable across both industries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48F"/>
                </a:solidFill>
              </a:rPr>
              <a:t>The demand environment is overwhelmingly positive. The constraint is not demand — it’s capacity and competitive positioning.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5564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200" kern="0" dirty="0">
                <a:solidFill>
                  <a:srgbClr val="1B3A6B"/>
                </a:solidFill>
              </a:rPr>
              <a:t>FEDERAL TAILWINDS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</a:rPr>
              <a:t>$1B+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annual security grants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2697480" cy="18288"/>
          </a:xfrm>
          <a:prstGeom prst="rect">
            <a:avLst/>
          </a:prstGeom>
          <a:solidFill>
            <a:srgbClr val="1B3A6B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5915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DHS/FEMA HSGP: $1.008B in FY2025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NDAA §889 Chinese equipment ban — rip-and-replace demand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School safety mandates: OH, KY, TN funded pipelines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$73M School Violence Prevention + $200M/yr BSCA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0" y="169164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75564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200" kern="0" dirty="0">
                <a:solidFill>
                  <a:srgbClr val="166534"/>
                </a:solidFill>
              </a:rPr>
              <a:t>CONSTRUCTION TAILWINDS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37560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6534"/>
                </a:solidFill>
              </a:rPr>
              <a:t>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3484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data centers planned — Columbus by 2030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200400" y="2286000"/>
            <a:ext cx="2697480" cy="18288"/>
          </a:xfrm>
          <a:prstGeom prst="rect">
            <a:avLst/>
          </a:prstGeom>
          <a:solidFill>
            <a:srgbClr val="166534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235915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Columbus: #3 U.S. data center market, 2.4 GW planned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Nashville: top metros for job growth, HCA HQ anchor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SE corridor: Atlanta, Charlotte, Florida construction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Every new building requires fire alarm + security by code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080760" y="169164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75564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200" kern="0" dirty="0">
                <a:solidFill>
                  <a:srgbClr val="0D8090"/>
                </a:solidFill>
              </a:rPr>
              <a:t>CLOUD / XaaS ACCELERATION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6217920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8090"/>
                </a:solidFill>
              </a:rPr>
              <a:t>16–18%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CAGR vs. 4–7% base market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080760" y="2286000"/>
            <a:ext cx="2697480" cy="18288"/>
          </a:xfrm>
          <a:prstGeom prst="rect">
            <a:avLst/>
          </a:prstGeom>
          <a:solidFill>
            <a:srgbClr val="0D8090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35915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ACaaS: $1.34B → $3.06B by 2029 (17.9% CAGR)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VSaaS: $5.09B → $10.74B by 2029 (16.1% CAGR)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82% of organizations planning cloud access control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Cloud layer growing 3–4× faster than traditional integration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20040" y="3977640"/>
            <a:ext cx="8503920" cy="6858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977640"/>
            <a:ext cx="320040" cy="68580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005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Labor: The Ceiling on Everything   </a:t>
            </a:r>
            <a:pPr indent="0" marL="0">
              <a:buNone/>
            </a:pPr>
            <a:r>
              <a:rPr lang="en-US" sz="600" b="1" dirty="0">
                <a:solidFill>
                  <a:srgbClr val="92400E"/>
                </a:solidFill>
              </a:rPr>
              <a:t>HEADWIND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29%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91640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F"/>
                </a:solidFill>
              </a:rPr>
              <a:t>of fire workforce retiring by 2026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429000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52%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343400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F"/>
                </a:solidFill>
              </a:rPr>
              <a:t>of security firms report hiring difficulty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080760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5160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F"/>
                </a:solidFill>
              </a:rPr>
              <a:t>industry apprenticeship programs at scale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Sources: Team PESTEL Workbook · FEMA.gov · ConstructConnect · MarketsandMarkets · Genetec State of Physical Security 2026 · BLS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1: THE PLAYING FIELD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These Markets Reward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AJ McKean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5720" cy="274320"/>
          </a:xfrm>
          <a:prstGeom prst="rect">
            <a:avLst/>
          </a:prstGeom>
          <a:solidFill>
            <a:srgbClr val="C820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F"/>
                </a:solidFill>
              </a:rPr>
              <a:t>Fire Rewards Depth &amp; Stickiness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NICET IV Certification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10-year investment; recognized by AHJs and GCs as mark of credibility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3840480" cy="41148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470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AHJ Relationship Capital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029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Locally built over time; not transferable through ownership changes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3840480" cy="41148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22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Multi-State Licensing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2505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Each state requires separate licensing — meaningful barrier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57200" y="2798064"/>
            <a:ext cx="3840480" cy="41148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980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Code-Mandated Inspection Contracts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2980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Recurring, driven by installed base — not construction cycles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57200" y="3273552"/>
            <a:ext cx="3840480" cy="41148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735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Proprietary Panel Switching Costs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3456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Replacement is technically complex and disruptive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846320" y="1005840"/>
            <a:ext cx="457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987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F"/>
                </a:solidFill>
              </a:rPr>
              <a:t>Security Rewards Breadth &amp; Delivery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371600"/>
            <a:ext cx="384048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371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Open Architecture Capability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0" y="1554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73% of buyers require vendor-agnostic platforms (Genetec 2026)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846320" y="1847088"/>
            <a:ext cx="384048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8470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Cloud Migration Capability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0" y="2029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ACaaS/VSaaS are the fastest-growing segments in the market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846320" y="2322576"/>
            <a:ext cx="384048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322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Cybersecurity Competency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0" y="2505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Emerging buyer criterion — enterprise, healthcare, gov, education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846320" y="2798064"/>
            <a:ext cx="384048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7980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Integrated Solutions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0" y="2980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60% of buyers operating unified systems (Genetec 2026)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846320" y="3273552"/>
            <a:ext cx="384048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2735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Long-Term Customer Relationships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0" y="3456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In a low-barrier market, relationship depth is the most durable advantage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57200" y="3840480"/>
            <a:ext cx="3840480" cy="640080"/>
          </a:xfrm>
          <a:prstGeom prst="rect">
            <a:avLst/>
          </a:prstGeom>
          <a:solidFill>
            <a:srgbClr val="F5F5F8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3840480"/>
            <a:ext cx="4572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3858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</a:rPr>
              <a:t>Both Reward Recurring Revenue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0080" y="40416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F"/>
                </a:solidFill>
              </a:rPr>
              <a:t>PE platforms at 13–14× EBITDA driven by RMR portfolios. Project-heavy businesses trade at material discount. 25%+ recurring revenue is the benchmark.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4846320" y="3840480"/>
            <a:ext cx="3840480" cy="6400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46320" y="3840480"/>
            <a:ext cx="45720" cy="64008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0" y="3858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</a:rPr>
              <a:t>Both Constrained by Labor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29200" y="40416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F"/>
                </a:solidFill>
              </a:rPr>
              <a:t>Technician shortage and rising competency floor (IP networking, cloud, device management) identical across both. Whoever solves workforce wins.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Sources: Genetec State of Physical Security 2026 · PitchBook · Team PESTEL Workbook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1: THE PLAYING FIELD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Forces Acting on Both Industries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AJ McKean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48F"/>
                </a:solidFill>
              </a:rPr>
              <a:t>Five external forces are hitting fire and security simultaneously — channeling structurally different industries toward the same destination.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16459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36576" cy="33375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98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spc="150" kern="0" dirty="0">
                <a:solidFill>
                  <a:srgbClr val="1B3A6B"/>
                </a:solidFill>
              </a:rPr>
              <a:t>CODE EVOLUTION</a:t>
            </a:r>
            <a:endParaRPr lang="en-US" sz="500" dirty="0"/>
          </a:p>
        </p:txBody>
      </p:sp>
      <p:sp>
        <p:nvSpPr>
          <p:cNvPr id="10" name="Text 8"/>
          <p:cNvSpPr/>
          <p:nvPr/>
        </p:nvSpPr>
        <p:spPr>
          <a:xfrm>
            <a:off x="32004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Regulation Extended into IT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1920240"/>
            <a:ext cx="1463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NFPA 72 (2025) mandates cybersecurity for networked fire systems</a:t>
            </a:r>
            <a:endParaRPr lang="en-US" sz="6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ERCES mandates expanding at state and municipal level</a:t>
            </a:r>
            <a:endParaRPr lang="en-US" sz="6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School safety legislation creating funded pipelines in OH, KY, TN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011680" y="1234440"/>
            <a:ext cx="16459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1234440"/>
            <a:ext cx="36576" cy="3337560"/>
          </a:xfrm>
          <a:prstGeom prst="rect">
            <a:avLst/>
          </a:prstGeom>
          <a:solidFill>
            <a:srgbClr val="0D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298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spc="150" kern="0" dirty="0">
                <a:solidFill>
                  <a:srgbClr val="0D8090"/>
                </a:solidFill>
              </a:rPr>
              <a:t>TECHNOLOGY CONVERGENCE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210312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Skill Floor Rising Across Both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03120" y="1920240"/>
            <a:ext cx="1463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IP-connected panels, cloud monitoring, AI analytics raising bar</a:t>
            </a:r>
            <a:endParaRPr lang="en-US" sz="6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Hardware commoditizing — differentiation shifting to software/service</a:t>
            </a:r>
            <a:endParaRPr lang="en-US" sz="6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Same skills needed: IP networking, cloud, device management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794760" y="1234440"/>
            <a:ext cx="16459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1234440"/>
            <a:ext cx="36576" cy="3337560"/>
          </a:xfrm>
          <a:prstGeom prst="rect">
            <a:avLst/>
          </a:prstGeom>
          <a:solidFill>
            <a:srgbClr val="C8202D"/>
          </a:solidFill>
          <a:ln/>
        </p:spPr>
      </p:sp>
      <p:sp>
        <p:nvSpPr>
          <p:cNvPr id="19" name="Text 17"/>
          <p:cNvSpPr/>
          <p:nvPr/>
        </p:nvSpPr>
        <p:spPr>
          <a:xfrm>
            <a:off x="3886200" y="1298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spc="150" kern="0" dirty="0">
                <a:solidFill>
                  <a:srgbClr val="C8202D"/>
                </a:solidFill>
              </a:rPr>
              <a:t>CAPITAL-DRIVEN CONSOLIDATION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388620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Record M&amp;A Pace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86200" y="1920240"/>
            <a:ext cx="1463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242 M&amp;A transactions in fire &amp; security in 2025, +24.1% YoY</a:t>
            </a:r>
            <a:endParaRPr lang="en-US" sz="6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Fire/life safety transactions up 66.7% YoY</a:t>
            </a:r>
            <a:endParaRPr lang="en-US" sz="6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PE assembling integrated platforms across fire, security, cloud, cyber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577840" y="1234440"/>
            <a:ext cx="16459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1234440"/>
            <a:ext cx="36576" cy="3337560"/>
          </a:xfrm>
          <a:prstGeom prst="rect">
            <a:avLst/>
          </a:prstGeom>
          <a:solidFill>
            <a:srgbClr val="D9661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1298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spc="150" kern="0" dirty="0">
                <a:solidFill>
                  <a:srgbClr val="D96619"/>
                </a:solidFill>
              </a:rPr>
              <a:t>MANUFACTURER DISRUPTION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566928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Exclusivity Eroding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0" y="1920240"/>
            <a:ext cx="1463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Edwards/EST under Lone Star Funds — PE ownership changing OEM dynamics</a:t>
            </a:r>
            <a:endParaRPr lang="en-US" sz="6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Long-standing distributor relationships being renegotiated</a:t>
            </a:r>
            <a:endParaRPr lang="en-US" sz="6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Exclusivity weakening under new PE ownership structures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7360920" y="1234440"/>
            <a:ext cx="16459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1234440"/>
            <a:ext cx="36576" cy="33375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9" name="Text 27"/>
          <p:cNvSpPr/>
          <p:nvPr/>
        </p:nvSpPr>
        <p:spPr>
          <a:xfrm>
            <a:off x="7452360" y="1298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spc="150" kern="0" dirty="0">
                <a:solidFill>
                  <a:srgbClr val="166534"/>
                </a:solidFill>
              </a:rPr>
              <a:t>CLOUD / XaaS SHIFT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745236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Subscription Is the New Default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52360" y="1920240"/>
            <a:ext cx="1463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CapEx-to-OpEx transition underway in both fire and security</a:t>
            </a:r>
            <a:endParaRPr lang="en-US" sz="6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Subscription delivery becoming expected model, not exception</a:t>
            </a:r>
            <a:endParaRPr lang="en-US" sz="6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650" dirty="0">
                <a:solidFill>
                  <a:srgbClr val="1A1A1F"/>
                </a:solidFill>
              </a:rPr>
              <a:t>82% of organizations planning cloud access control transitions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Sources: NFPA 72-2025 · Capstone Partners Feb 2026 · PitchBook · Team PESTEL Workbook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2: THE CONVERGENCE SQUEEZE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Industries Becoming 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Katy Peat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200400" cy="2926080"/>
          </a:xfrm>
          <a:prstGeom prst="ellipse">
            <a:avLst/>
          </a:prstGeom>
          <a:solidFill>
            <a:srgbClr val="1A1A4E">
              <a:alpha val="85000"/>
            </a:srgbClr>
          </a:solidFill>
          <a:ln w="25400">
            <a:solidFill>
              <a:srgbClr val="1A1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FIRE &amp; LIFE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SAFETY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$33.2B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NAICS 238210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1051560"/>
            <a:ext cx="3200400" cy="2926080"/>
          </a:xfrm>
          <a:prstGeom prst="ellipse">
            <a:avLst/>
          </a:prstGeom>
          <a:solidFill>
            <a:srgbClr val="0D9488">
              <a:alpha val="8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8016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ELECTRONIC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SECURITY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$33.2B+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NAICS 561621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20116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F"/>
                </a:solidFill>
              </a:rPr>
              <a:t>CONVERGED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1A1F"/>
                </a:solidFill>
              </a:rPr>
              <a:t>BUILDING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1A1F"/>
                </a:solidFill>
              </a:rPr>
              <a:t>INTELLIGENCE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937760" y="11887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7C9E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88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4E"/>
                </a:solidFill>
              </a:rPr>
              <a:t>Cybersecurity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937760" y="150876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7C9E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08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4E"/>
                </a:solidFill>
              </a:rPr>
              <a:t>IT Managed Services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4937760" y="18288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7C9EF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828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4E"/>
                </a:solidFill>
              </a:rPr>
              <a:t>Building Automation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spc="200" kern="0" dirty="0">
                <a:solidFill>
                  <a:srgbClr val="80848F"/>
                </a:solidFill>
              </a:rPr>
              <a:t>ENTERING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6172200" y="868680"/>
            <a:ext cx="13716" cy="3931920"/>
          </a:xfrm>
          <a:prstGeom prst="rect">
            <a:avLst/>
          </a:prstGeom>
          <a:solidFill>
            <a:srgbClr val="E8E9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B3A6B"/>
                </a:solidFill>
              </a:rPr>
              <a:t>KEY DATA POINTS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355080" y="1234440"/>
            <a:ext cx="2560320" cy="530352"/>
          </a:xfrm>
          <a:prstGeom prst="rect">
            <a:avLst/>
          </a:prstGeom>
          <a:solidFill>
            <a:srgbClr val="F5F5F8"/>
          </a:solidFill>
          <a:ln w="6350">
            <a:solidFill>
              <a:srgbClr val="E8E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252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$256B+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1508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IPS addressable market (NAICS 561621 + 238210)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355080" y="1856232"/>
            <a:ext cx="2560320" cy="530352"/>
          </a:xfrm>
          <a:prstGeom prst="rect">
            <a:avLst/>
          </a:prstGeom>
          <a:solidFill>
            <a:srgbClr val="F5F5F8"/>
          </a:solidFill>
          <a:ln w="6350">
            <a:solidFill>
              <a:srgbClr val="E8E9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16–18%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2130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Cloud/XaaS CAGR vs. 4% base market growth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355080" y="2478024"/>
            <a:ext cx="2560320" cy="530352"/>
          </a:xfrm>
          <a:prstGeom prst="rect">
            <a:avLst/>
          </a:prstGeom>
          <a:solidFill>
            <a:srgbClr val="F5F5F8"/>
          </a:solidFill>
          <a:ln w="6350">
            <a:solidFill>
              <a:srgbClr val="E8E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496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7.5%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6520" y="27523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Addressable fire systems CAGR 2025–2035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355080" y="3099816"/>
            <a:ext cx="2560320" cy="530352"/>
          </a:xfrm>
          <a:prstGeom prst="rect">
            <a:avLst/>
          </a:prstGeom>
          <a:solidFill>
            <a:srgbClr val="F5F5F8"/>
          </a:solidFill>
          <a:ln w="6350">
            <a:solidFill>
              <a:srgbClr val="E8E9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3118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NFPA 72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46520" y="33741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2025 edition mandates cybersecurity for fire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355080" y="3721608"/>
            <a:ext cx="2560320" cy="530352"/>
          </a:xfrm>
          <a:prstGeom prst="rect">
            <a:avLst/>
          </a:prstGeom>
          <a:solidFill>
            <a:srgbClr val="F5F5F8"/>
          </a:solidFill>
          <a:ln w="6350">
            <a:solidFill>
              <a:srgbClr val="E8E9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37398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71%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46520" y="39959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of organizations operating converged systems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0" y="4251960"/>
            <a:ext cx="9144000" cy="502920"/>
          </a:xfrm>
          <a:prstGeom prst="rect">
            <a:avLst/>
          </a:prstGeom>
          <a:solidFill>
            <a:srgbClr val="F5F5F8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2793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</a:rPr>
              <a:t>KEY INSIGHT:  </a:t>
            </a:r>
            <a:pPr indent="0" marL="0">
              <a:buNone/>
            </a:pPr>
            <a:r>
              <a:rPr lang="en-US" sz="800" dirty="0">
                <a:solidFill>
                  <a:srgbClr val="1A1A1F"/>
                </a:solidFill>
              </a:rPr>
              <a:t>You describe yourselves as 50% fire, 50% security. The market increasingly sees one market. IPS sits at the intersection of a $256B opportunity — 11.5× the average firm — but at $55M, that’s still &lt;0.02% of TAM.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Source: Plunkett Research via Xavier/Gale | NFPA 72 (2025) | Team PESTEL Workbook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2: THE CONVERGENCE SQUEEZE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Convergence Timeline: Three Waves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Katy Peat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974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78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0848F"/>
                </a:solidFill>
              </a:rPr>
              <a:t>WAVE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</a:rPr>
              <a:t>2024–2026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F"/>
                </a:solidFill>
              </a:rPr>
              <a:t>Security + IT / Cyber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2697480" cy="256032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9385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8202D"/>
                </a:solidFill>
              </a:rPr>
              <a:t>HAPPENING NOW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2267712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IT departments becoming the primary security buyer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Cloud platforms (Brivo, Verkada) blurring IT and security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Convergint adds cybersecurity capability via Deloitte partnership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Managed services = IT service model applied to physical security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6974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1078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0848F"/>
                </a:solidFill>
              </a:rPr>
              <a:t>WAVE 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83280" y="12618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2026–2028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8328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F"/>
                </a:solidFill>
              </a:rPr>
              <a:t>Security + Building Automation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938528"/>
            <a:ext cx="2697480" cy="256032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19385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8202D"/>
                </a:solidFill>
              </a:rPr>
              <a:t>COMING SOON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37560" y="2267712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IoT connecting fire, HVAC, access control, and video into one network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71% of organizations already operating unified building systems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Smart building platforms managing everything behind the walls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Single-pane-of-glass monitoring across all building systems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080760" y="1005840"/>
            <a:ext cx="26974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1078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0848F"/>
                </a:solidFill>
              </a:rPr>
              <a:t>WAVE 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63640" y="12618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F"/>
                </a:solidFill>
              </a:rPr>
              <a:t>2028–2034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6364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F"/>
                </a:solidFill>
              </a:rPr>
              <a:t>Fire + Everything Else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938528"/>
            <a:ext cx="2697480" cy="2560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19385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7280"/>
                </a:solidFill>
              </a:rPr>
              <a:t>SLOW BUT CERTAIN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17920" y="2267712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NFPA 72 cyber requirements enforced (Chapter 11 mandate)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Cloud-connected fire monitoring growing at 8.2% CAGR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Addressable fire systems fastest-growing at 7.5% CAGR 2025–2035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Fire panels become nodes on building intelligence networks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0040" y="3977640"/>
            <a:ext cx="8503920" cy="548640"/>
          </a:xfrm>
          <a:prstGeom prst="rect">
            <a:avLst/>
          </a:prstGeom>
          <a:solidFill>
            <a:srgbClr val="F5F5F8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3977640"/>
            <a:ext cx="45720" cy="5486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005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3A6B"/>
                </a:solidFill>
              </a:rPr>
              <a:t>IPS POSITION:  </a:t>
            </a:r>
            <a:pPr indent="0" marL="0">
              <a:buNone/>
            </a:pPr>
            <a:r>
              <a:rPr lang="en-US" sz="800" dirty="0">
                <a:solidFill>
                  <a:srgbClr val="1A1A1F"/>
                </a:solidFill>
              </a:rPr>
              <a:t>Fire is the last piece to converge — that’s your most valuable asset. But ‘last’ does not mean ‘never.’ The fire alarm moat buys you 3–5 years. The partner buyout requires growing enterprise value in exactly that window.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Source: Team PESTEL Workbook | Pete Keller Consultation (March 25, 2026) | NFPA 72 (2025)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2: THE CONVERGENCE SQUEEZE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 Billion Is Pointed at Your Market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Katy Peat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60120"/>
          <a:ext cx="8778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51560"/>
                <a:gridCol w="1325880"/>
                <a:gridCol w="685800"/>
                <a:gridCol w="685800"/>
                <a:gridCol w="96012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PE FIRM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FIRE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SECURITY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CLOUD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CYBER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SCALE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SIGNIFICANCE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Leonard Green</a:t>
                      </a:r>
                      <a:endParaRPr lang="en-US" sz="700" dirty="0"/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via funds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C8202D"/>
                          </a:solidFill>
                        </a:rPr>
                        <a:t>Pye-Barker $1B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C8202D"/>
                          </a:solidFill>
                        </a:rPr>
                        <a:t>Convergint $2.7B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</a:rPr>
                        <a:t>YES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Via Deloitte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$3.7B combined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Controls #1 AND #2 PE platforms simultaneously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Lone Star</a:t>
                      </a:r>
                      <a:endParaRPr lang="en-US" sz="700" dirty="0"/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Dec 2024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C8202D"/>
                          </a:solidFill>
                        </a:rPr>
                        <a:t>Kidde/Edwards $3B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80848F"/>
                          </a:solidFill>
                        </a:rPr>
                        <a:t>None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80848F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80848F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$3B OEM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Controls IPS’s primary fire supplier — weakening exclusivity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GTCR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80848F"/>
                          </a:solidFill>
                        </a:rPr>
                        <a:t>None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C8202D"/>
                          </a:solidFill>
                        </a:rPr>
                        <a:t>Everon $782M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80848F"/>
                          </a:solidFill>
                        </a:rPr>
                        <a:t>SimpliSafe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80848F"/>
                          </a:solidFill>
                        </a:rPr>
                        <a:t>Limited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$782M+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Residential to commercial expansion; Columbus + Louisville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Honeywell</a:t>
                      </a:r>
                      <a:endParaRPr lang="en-US" sz="700" dirty="0"/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strategic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D97706"/>
                          </a:solidFill>
                        </a:rPr>
                        <a:t>Fire division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C8202D"/>
                          </a:solidFill>
                        </a:rPr>
                        <a:t>LenelS2/Onity $4.95B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</a:rPr>
                        <a:t>YES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</a:rPr>
                        <a:t>YES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$4.95B+ access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Full stack: fire + security + building automation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Wind Point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D97706"/>
                          </a:solidFill>
                        </a:rPr>
                        <a:t>Via Pavion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C8202D"/>
                          </a:solidFill>
                        </a:rPr>
                        <a:t>Pavion $625M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</a:rPr>
                        <a:t>YES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80848F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$625M+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15+ sister companies; regional M&amp;A rollup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Carlyle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D97706"/>
                          </a:solidFill>
                        </a:rPr>
                        <a:t>Sciens $390M+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80848F"/>
                          </a:solidFill>
                        </a:rPr>
                        <a:t>YES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80848F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80848F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$390M+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Expanding eastward into IPS markets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26North</a:t>
                      </a:r>
                      <a:endParaRPr lang="en-US" sz="700" dirty="0"/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ArchKey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D97706"/>
                          </a:solidFill>
                        </a:rPr>
                        <a:t>Building in-house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C8202D"/>
                          </a:solidFill>
                        </a:rPr>
                        <a:t>YES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80848F"/>
                          </a:solidFill>
                        </a:rPr>
                        <a:t>Limited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80848F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$1.4B EC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IPS’s $2.5M customer — hiring NICET staff now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Apollo</a:t>
                      </a:r>
                      <a:endParaRPr lang="en-US" sz="700" dirty="0"/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State Group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C8202D"/>
                          </a:solidFill>
                        </a:rPr>
                        <a:t>YES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C8202D"/>
                          </a:solidFill>
                        </a:rPr>
                        <a:t>YES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80848F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80848F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Regional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Fire + security + EC in KY/IN/TN — IPS geography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160520"/>
            <a:ext cx="91440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4160520"/>
            <a:ext cx="9144000" cy="27432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1879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202D"/>
                </a:solidFill>
              </a:rPr>
              <a:t>KEY INSIGHT:  </a:t>
            </a:r>
            <a:pPr indent="0" marL="0">
              <a:buNone/>
            </a:pPr>
            <a:r>
              <a:rPr lang="en-US" sz="900" dirty="0">
                <a:solidFill>
                  <a:srgbClr val="1A1A1F"/>
                </a:solidFill>
              </a:rPr>
              <a:t>Combined PE capital across three fronts exceeds $12B. Pye-Barker alone has $680M in undrawn capacity. This isn’t competition — it’s an industry reorganization backed by the world’s largest capital pools.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Source: PitchBook (verified) | Capstone Partners Feb 2026 | SDM Magazine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2: THE CONVERGENCE SQUEEZE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Third Consolidation Wave: Electrical Contractors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Ryan Eger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F"/>
                </a:solidFill>
              </a:rPr>
              <a:t>First it was fire &amp; security. Then cloud/managed services. Now PE is consolidating the electrical contractor channel — the same companies that subcontract IPS today.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96596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</a:rPr>
              <a:t>$255B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48F"/>
                </a:solidFill>
              </a:rPr>
              <a:t>EC industry revenue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196596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463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</a:rPr>
              <a:t>219K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48F"/>
                </a:solidFill>
              </a:rPr>
              <a:t>businesses nationwide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96596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463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</a:rPr>
              <a:t>79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48F"/>
                </a:solidFill>
              </a:rPr>
              <a:t>EC deals in 2024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196596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463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202D"/>
                </a:solidFill>
              </a:rPr>
              <a:t>73%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48F"/>
                </a:solidFill>
              </a:rPr>
              <a:t>PE-driven acquisitions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196596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51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</a:rPr>
              <a:t>562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65760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48F"/>
                </a:solidFill>
              </a:rPr>
              <a:t>construction M&amp;A deals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14600" y="2560320"/>
            <a:ext cx="196596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2651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202D"/>
                </a:solidFill>
              </a:rPr>
              <a:t>48.1%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514600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48F"/>
                </a:solidFill>
              </a:rPr>
              <a:t>sponsor-backed deals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2560320"/>
            <a:ext cx="196596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651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202D"/>
                </a:solidFill>
              </a:rPr>
              <a:t>10+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663440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48F"/>
                </a:solidFill>
              </a:rPr>
              <a:t>active PE platforms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12280" y="2560320"/>
            <a:ext cx="196596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2651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</a:rPr>
              <a:t>3rd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12280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48F"/>
                </a:solidFill>
              </a:rPr>
              <a:t>consolidation wave after fire/security &amp; cloud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8412480" cy="64008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8862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FMI RESEARCH: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The electrical contractor space is still in early stages of consolidation — making it the next frontier for PE platform strategies. The same playbook that reshaped fire &amp; security is now pointed at IPS’s subcontractor base.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Sources: FMI Capital Advisors · Capstone Partners Construction M&amp;A Report · PitchBook · IBISWorld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2: THE CONVERGENCE SQUEEZE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Convergence Squeeze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Kyu Hyuk Choi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035040" cy="960120"/>
          </a:xfrm>
          <a:prstGeom prst="rect">
            <a:avLst/>
          </a:prstGeom>
          <a:solidFill>
            <a:srgbClr val="FDE8E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87552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F"/>
                </a:solidFill>
              </a:rPr>
              <a:t>ABOVE: PE-Backed Converged Platforms</a:t>
            </a:r>
            <a:endParaRPr lang="en-US" sz="1000" dirty="0"/>
          </a:p>
          <a:p>
            <a:pPr indent="0" marL="0">
              <a:buNone/>
            </a:pPr>
            <a:r>
              <a:rPr lang="en-US" sz="750" b="1" dirty="0">
                <a:solidFill>
                  <a:srgbClr val="374151"/>
                </a:solidFill>
              </a:rPr>
              <a:t>Convergint + Deloitte cyber | Pye-Barker 57 acquisitions/yr | Allied Universal $20B+
</a:t>
            </a:r>
            <a:endParaRPr lang="en-US" sz="1000" dirty="0"/>
          </a:p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</a:rPr>
              <a:t>They offer everything IPS offers PLUS cybersecurity, IT managed services, national scale, and subscription platforms.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9875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F4444"/>
                </a:solidFill>
              </a:rPr>
              <a:t>PRESSING DOWN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2743200" y="1965960"/>
            <a:ext cx="1371600" cy="22860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▼  ▼  ▼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258568"/>
            <a:ext cx="6035040" cy="1097280"/>
          </a:xfrm>
          <a:prstGeom prst="rect">
            <a:avLst/>
          </a:prstGeom>
          <a:solidFill>
            <a:srgbClr val="F0F1FB"/>
          </a:solidFill>
          <a:ln w="2540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286000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MIDDLE: IPS ($55M)
</a:t>
            </a:r>
            <a:endParaRPr lang="en-US" sz="1000" dirty="0"/>
          </a:p>
          <a:p>
            <a:pPr indent="0" marL="0">
              <a:buNone/>
            </a:pPr>
            <a:r>
              <a:rPr lang="en-US" sz="750" b="1" dirty="0">
                <a:solidFill>
                  <a:srgbClr val="1A1A1F"/>
                </a:solidFill>
              </a:rPr>
              <a:t>Full-service regional fire + security integrator
</a:t>
            </a:r>
            <a:endParaRPr lang="en-US" sz="1000" dirty="0"/>
          </a:p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Strong today — but addressable market narrows if you stay here
</a:t>
            </a:r>
            <a:endParaRPr lang="en-US" sz="1000" dirty="0"/>
          </a:p>
          <a:p>
            <a:pPr indent="0" marL="0">
              <a:buNone/>
            </a:pPr>
            <a:r>
              <a:rPr lang="en-US" sz="750" b="1" dirty="0">
                <a:solidFill>
                  <a:srgbClr val="1B3A6B"/>
                </a:solidFill>
              </a:rPr>
              <a:t>Must fund 42% partner buyout without PE — growth isn’t optional
</a:t>
            </a:r>
            <a:endParaRPr lang="en-US" sz="1000" dirty="0"/>
          </a:p>
          <a:p>
            <a:pPr indent="0" marL="0">
              <a:buNone/>
            </a:pPr>
            <a:r>
              <a:rPr lang="en-US" sz="750" b="1" dirty="0">
                <a:solidFill>
                  <a:srgbClr val="1B3A6B"/>
                </a:solidFill>
              </a:rPr>
              <a:t>IPS owns this space today. The moat is real. The window is 3–5 years.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3419856"/>
            <a:ext cx="1371600" cy="22860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34198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▲  ▲  ▲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6035040" cy="86868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30752"/>
            <a:ext cx="5577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BELOW: Cloud-Native Disruptors + IT/EC Entrants</a:t>
            </a:r>
            <a:endParaRPr lang="en-US" sz="1000" dirty="0"/>
          </a:p>
          <a:p>
            <a:pPr indent="0" marL="0">
              <a:buNone/>
            </a:pPr>
            <a:r>
              <a:rPr lang="en-US" sz="700" b="1" dirty="0">
                <a:solidFill>
                  <a:srgbClr val="374151"/>
                </a:solidFill>
              </a:rPr>
              <a:t>Verkada $4.5B | ECs adding low-voltage | IT/MSPs entering security | ArchKey, EMCOR, IES, Apollo building fire in-house
</a:t>
            </a:r>
            <a:endParaRPr lang="en-US" sz="1000" dirty="0"/>
          </a:p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</a:rPr>
              <a:t>Cloud-first and subscription-first from below. PE-backed ECs vertically integrating from inside.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7307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B7280"/>
                </a:solidFill>
              </a:rPr>
              <a:t>PRESSING UP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675120" y="960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B3A6B"/>
                </a:solidFill>
              </a:rPr>
              <a:t>THE MATH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675120" y="1234440"/>
            <a:ext cx="2103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</a:rPr>
              <a:t>$12B+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16184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PE capital across three fronts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675120" y="2039112"/>
            <a:ext cx="2103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2084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</a:rPr>
              <a:t>$680M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Pye-Barker undrawn capacity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675120" y="2843784"/>
            <a:ext cx="2103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28895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</a:rPr>
              <a:t>$3.7B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66560" y="32278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under one PE firm (Leonard Green)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675120" y="3648456"/>
            <a:ext cx="2103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66560" y="36941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202D"/>
                </a:solidFill>
              </a:rPr>
              <a:t>7–10%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66560" y="40325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IPS RMR vs. 25%+ benchmark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0" y="4645152"/>
            <a:ext cx="9144000" cy="493776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663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The ceiling is lowering. The floor is rising. The walls are closing in. The partner buyout makes this existential: grow revenue and RMR fast enough to fund it internally, or the PE offer becomes the only path.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2: THE CONVERGENCE SQUEEZE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Group Map: 2025 vs. 2028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Kyu Hyuk Choi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solidFill>
            <a:srgbClr val="1B3A6B">
              <a:alpha val="13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3A6B"/>
                </a:solidFill>
              </a:rPr>
              <a:t>INTERACTIVE — HOVER FOR DETAILS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F5F5F8"/>
          </a:solidFill>
          <a:ln w="12700">
            <a:solidFill>
              <a:srgbClr val="E8E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3716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48F"/>
                </a:solidFill>
              </a:rPr>
              <a:t>CHART PLACEHOLDER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848F"/>
                </a:solidFill>
              </a:rPr>
              <a:t>Export the Strategic Group Map from the web app as a screenshot
and replace this placeholder.
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3A6B"/>
                </a:solidFill>
              </a:rPr>
              <a:t>Web app: https://ips-portal-xi.vercel.app/external/presentation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3A6B"/>
                </a:solidFill>
              </a:rPr>
              <a:t>Navigate to slide 11 (Strategic Group Map) and take a screenshot.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137160" cy="137160"/>
          </a:xfrm>
          <a:prstGeom prst="ellipse">
            <a:avLst/>
          </a:prstGeom>
          <a:solidFill>
            <a:srgbClr val="CC1F1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115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PE-Backed Platforms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37160" cy="1371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344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Independent Integrators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40080" y="1600200"/>
            <a:ext cx="137160" cy="137160"/>
          </a:xfrm>
          <a:prstGeom prst="ellipse">
            <a:avLst/>
          </a:prstGeom>
          <a:solidFill>
            <a:srgbClr val="80848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572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Cloud-Native Disruptors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D9661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801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Converged Giants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2: THE CONVERGENCE SQUEEZE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Growth Is Concentrated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Ryan Eger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48F"/>
                </a:solidFill>
              </a:rPr>
              <a:t>Demand tailwinds are strongest in IPS’s existing and target geographies — but so is competitive density.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4114800" cy="3657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25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B"/>
                </a:solidFill>
              </a:rPr>
              <a:t>77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371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848F"/>
                </a:solidFill>
              </a:rPr>
              <a:t>data centers by 2030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F"/>
                </a:solidFill>
              </a:rPr>
              <a:t>Ohio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89280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Columbus: #3 nationally for data center capacity, 2.4 GW planned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Meta Prometheus: planned 1 GW+ facility, completion 2026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Stargate Ohio, AMGEN expansion, major OSU capital investment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709160" y="123444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114800" cy="3657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25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</a:rPr>
              <a:t>#2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0" y="1371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848F"/>
                </a:solidFill>
              </a:rPr>
              <a:t>metro for job growth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84632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F"/>
                </a:solidFill>
              </a:rPr>
              <a:t>Tennessee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89280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Nashville among top U.S. metros for job growth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HCA headquarters anchors healthcare sector demand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Sustained commercial construction across the metro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34640"/>
            <a:ext cx="4114800" cy="36576"/>
          </a:xfrm>
          <a:prstGeom prst="rect">
            <a:avLst/>
          </a:prstGeom>
          <a:solidFill>
            <a:srgbClr val="0D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8090"/>
                </a:solidFill>
              </a:rPr>
              <a:t>3+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2971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848F"/>
                </a:solidFill>
              </a:rPr>
              <a:t>major growth metros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F"/>
                </a:solidFill>
              </a:rPr>
              <a:t>Southeast Corridor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49300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Atlanta, Charlotte, Florida corridor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Among strongest multi-year commercial construction pipelines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Population migration driving sustained commercial build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709160" y="283464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834640"/>
            <a:ext cx="4114800" cy="36576"/>
          </a:xfrm>
          <a:prstGeom prst="rect">
            <a:avLst/>
          </a:prstGeom>
          <a:solidFill>
            <a:srgbClr val="C8202D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202D"/>
                </a:solidFill>
              </a:rPr>
              <a:t>$1.3B+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943600" y="2971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848F"/>
                </a:solidFill>
              </a:rPr>
              <a:t>annual funded demand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463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F"/>
                </a:solidFill>
              </a:rPr>
              <a:t>Federal Funding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49300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$1.008B DHS/FEMA Homeland Security Grant Program (FY2025)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$73M School Violence Prevention Program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$200M/yr Bipartisan Safer Communities Act — education and public safety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Sources: PESTEL research · Congress.gov · FEMA.gov · ConstructConnect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3: WHERE IPS STANDS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IPS Has — and What It’s Missing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Zahria Tucker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005840"/>
                <a:gridCol w="1188720"/>
                <a:gridCol w="109728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80848F"/>
                          </a:solidFill>
                        </a:rPr>
                        <a:t>KEY SUCCESS FACTOR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1B3A6B"/>
                          </a:solidFill>
                        </a:rPr>
                        <a:t>IPS ★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80848F"/>
                          </a:solidFill>
                        </a:rPr>
                        <a:t>SILCO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80848F"/>
                          </a:solidFill>
                        </a:rPr>
                        <a:t>CONVERGINT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80848F"/>
                          </a:solidFill>
                        </a:rPr>
                        <a:t>PYE-BARKER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80848F"/>
                          </a:solidFill>
                        </a:rPr>
                        <a:t>EVERON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A1A1F"/>
                          </a:solidFill>
                        </a:rPr>
                        <a:t>RECURRING REVENUE / RMR %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202D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8202D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A1A1F"/>
                          </a:solidFill>
                        </a:rPr>
                        <a:t>NICET IV CERTIFICATION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A1A1F"/>
                          </a:solidFill>
                        </a:rPr>
                        <a:t>FIRE + SECURITY COMBINED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A1A1F"/>
                          </a:solidFill>
                        </a:rPr>
                        <a:t>LOCAL RELATIONSHIPS / DENSITY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A1A1F"/>
                          </a:solidFill>
                        </a:rPr>
                        <a:t>SCALE &amp; CAPITAL ACCESS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202D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8202D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A1A1F"/>
                          </a:solidFill>
                        </a:rPr>
                        <a:t>TECHNOLOGY PARTNERSHIP BREADTH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A1A1F"/>
                          </a:solidFill>
                        </a:rPr>
                        <a:t>WORKFORCE DEV PIPELINE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202D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8202D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A1A1F"/>
                          </a:solidFill>
                        </a:rPr>
                        <a:t>OPERATIONAL PROCESS MATURITY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202D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66534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F"/>
                          </a:solidFill>
                        </a:rPr>
                        <a:t>TOTAL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3A6B"/>
                          </a:solidFill>
                        </a:rPr>
                        <a:t>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F"/>
                          </a:solidFill>
                        </a:rPr>
                        <a:t>23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F"/>
                          </a:solidFill>
                        </a:rPr>
                        <a:t>33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F"/>
                          </a:solidFill>
                        </a:rPr>
                        <a:t>28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F"/>
                          </a:solidFill>
                        </a:rPr>
                        <a:t>31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457200"/>
          </a:xfrm>
          <a:prstGeom prst="rect">
            <a:avLst/>
          </a:prstGeom>
          <a:solidFill>
            <a:srgbClr val="F5F5F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3A6B"/>
                </a:solidFill>
              </a:rPr>
              <a:t>THE BARBELL:  </a:t>
            </a:r>
            <a:pPr indent="0" marL="0">
              <a:buNone/>
            </a:pPr>
            <a:r>
              <a:rPr lang="en-US" sz="750" dirty="0">
                <a:solidFill>
                  <a:srgbClr val="1A1A1F"/>
                </a:solidFill>
              </a:rPr>
              <a:t>IPS is world-class at the technical craft — NICET IV, fire+security under one roof, 25+ vendor partnerships. But the business systems that scale from $55M to $150M — recurring revenue, workforce pipeline, documented processes — are the gaps.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74320" y="466344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80848F"/>
                </a:solidFill>
              </a:rPr>
              <a:t>*Inferred from scale/ownership; not confirmed via primary data.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4114800" y="4663440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0848F"/>
                </a:solidFill>
              </a:rPr>
              <a:t>Source: IPS Leadership (Mar 2026) | IPS VTO | PitchBook | SDM Top 100 (2024)</a:t>
            </a:r>
            <a:endParaRPr lang="en-US" sz="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3: WHERE IPS STANDS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Recurring Revenue Imperative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Zahria Tucker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0848F"/>
                </a:solidFill>
              </a:rPr>
              <a:t>IPS RECURRING REVENUE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202D"/>
                </a:solidFill>
              </a:rPr>
              <a:t>7–10%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0848F"/>
                </a:solidFill>
              </a:rPr>
              <a:t>IPS today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1188720" cy="731520"/>
          </a:xfrm>
          <a:prstGeom prst="rect">
            <a:avLst/>
          </a:prstGeom>
          <a:solidFill>
            <a:srgbClr val="C8202D">
              <a:alpha val="15000"/>
            </a:srgbClr>
          </a:solidFill>
          <a:ln w="12700">
            <a:solidFill>
              <a:srgbClr val="C820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6534"/>
                </a:solidFill>
              </a:rPr>
              <a:t>25%+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286000" y="1828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0848F"/>
                </a:solidFill>
              </a:rPr>
              <a:t>Benchmark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77440" y="2057400"/>
            <a:ext cx="1188720" cy="1828800"/>
          </a:xfrm>
          <a:prstGeom prst="rect">
            <a:avLst/>
          </a:prstGeom>
          <a:solidFill>
            <a:srgbClr val="166534">
              <a:alpha val="15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23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The single largest gap in the competitive scorecard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4251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848F"/>
                </a:solidFill>
              </a:rPr>
              <a:t>RMR connects competitive positioning, valuation multiples, and the partner buyout equation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206240" y="960120"/>
            <a:ext cx="13716" cy="3840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0058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B3A6B"/>
                </a:solidFill>
              </a:rPr>
              <a:t>WHY RMR IS THE ANSWER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389120" y="1280160"/>
            <a:ext cx="448056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1280160"/>
            <a:ext cx="36576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307592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1B3A6B"/>
                </a:solidFill>
              </a:rPr>
              <a:t>MARGIN MATH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457200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Service margins are 2.5× project margins — the economics are clear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389120" y="1874520"/>
            <a:ext cx="448056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1874520"/>
            <a:ext cx="36576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1901952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1B3A6B"/>
                </a:solidFill>
              </a:rPr>
              <a:t>VALUATION MATH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457200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PE platforms at 13–14× EBITDA driven by RMR portfolios. Project-heavy businesses trade at material discount.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89120" y="2468880"/>
            <a:ext cx="448056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2468880"/>
            <a:ext cx="36576" cy="502920"/>
          </a:xfrm>
          <a:prstGeom prst="rect">
            <a:avLst/>
          </a:prstGeom>
          <a:solidFill>
            <a:srgbClr val="C8202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2496312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C8202D"/>
                </a:solidFill>
              </a:rPr>
              <a:t>APi GROUP MODEL</a:t>
            </a:r>
            <a:endParaRPr lang="en-US" sz="550" dirty="0"/>
          </a:p>
        </p:txBody>
      </p:sp>
      <p:sp>
        <p:nvSpPr>
          <p:cNvPr id="28" name="Text 26"/>
          <p:cNvSpPr/>
          <p:nvPr/>
        </p:nvSpPr>
        <p:spPr>
          <a:xfrm>
            <a:off x="457200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Every $1 of inspection generates $3–4 in annual service revenue. ECs building fire in-house targeting this pool.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389120" y="3063240"/>
            <a:ext cx="448056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3063240"/>
            <a:ext cx="36576" cy="5029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3090672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166534"/>
                </a:solidFill>
              </a:rPr>
              <a:t>CUSTOMER DEMAND</a:t>
            </a:r>
            <a:endParaRPr lang="en-US" sz="550" dirty="0"/>
          </a:p>
        </p:txBody>
      </p:sp>
      <p:sp>
        <p:nvSpPr>
          <p:cNvPr id="32" name="Text 30"/>
          <p:cNvSpPr/>
          <p:nvPr/>
        </p:nvSpPr>
        <p:spPr>
          <a:xfrm>
            <a:off x="457200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82% planning cloud access control transitions. Inspection/testing/maintenance is fastest-growing fire segment.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389120" y="3657600"/>
            <a:ext cx="448056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3657600"/>
            <a:ext cx="36576" cy="502920"/>
          </a:xfrm>
          <a:prstGeom prst="rect">
            <a:avLst/>
          </a:prstGeom>
          <a:solidFill>
            <a:srgbClr val="0D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3685032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0D8090"/>
                </a:solidFill>
              </a:rPr>
              <a:t>PLATFORMS EXIST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4572000" y="3840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Brivo, Genetec already deployed at IPS. The gap is go-to-market execution, not technology.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the External Environment Is Asking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Ryan Eger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743200" cy="1508760"/>
          </a:xfrm>
          <a:prstGeom prst="rect">
            <a:avLst/>
          </a:prstGeom>
          <a:solidFill>
            <a:srgbClr val="FAFAFA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8328" y="1115568"/>
            <a:ext cx="320040" cy="32004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078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F"/>
                </a:solidFill>
              </a:rPr>
              <a:t>Your industry is becoming one market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3533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The $256B addressable market is reorganizing around full-stack integration. NFPA 72 (2025) makes convergence official. Cloud grows 4× faster than base market.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71%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0116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already converged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154680" y="1005840"/>
            <a:ext cx="2743200" cy="1508760"/>
          </a:xfrm>
          <a:prstGeom prst="rect">
            <a:avLst/>
          </a:prstGeom>
          <a:solidFill>
            <a:srgbClr val="FAFAFA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115568"/>
            <a:ext cx="320040" cy="320040"/>
          </a:xfrm>
          <a:prstGeom prst="ellipse">
            <a:avLst/>
          </a:prstGeom>
          <a:solidFill>
            <a:srgbClr val="C8202D"/>
          </a:solidFill>
          <a:ln/>
        </p:spPr>
      </p:sp>
      <p:sp>
        <p:nvSpPr>
          <p:cNvPr id="15" name="Text 13"/>
          <p:cNvSpPr/>
          <p:nvPr/>
        </p:nvSpPr>
        <p:spPr>
          <a:xfrm>
            <a:off x="3264408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1078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F"/>
                </a:solidFill>
              </a:rPr>
              <a:t>Someone else is building what you could be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13533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$12B+ deployed across nine PE firms and three consolidation fronts. Every IPS market is now encircled.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65760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02D"/>
                </a:solidFill>
              </a:rPr>
              <a:t>$12B+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0116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across three fronts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6080760" y="1005840"/>
            <a:ext cx="2743200" cy="1508760"/>
          </a:xfrm>
          <a:prstGeom prst="rect">
            <a:avLst/>
          </a:prstGeom>
          <a:solidFill>
            <a:srgbClr val="FAFAFA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0488" y="1115568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190488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1078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F"/>
                </a:solidFill>
              </a:rPr>
              <a:t>Fire is defensible — but the door is being bought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13533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The NICET IV moat is real. But the ECs that subcontract IPS are being acquired and building fire in-house. ArchKey is hiring NICET staff now.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58368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3 of 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0" y="20116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top EC customers PE-owned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28600" y="2651760"/>
            <a:ext cx="4206240" cy="1234440"/>
          </a:xfrm>
          <a:prstGeom prst="rect">
            <a:avLst/>
          </a:prstGeom>
          <a:solidFill>
            <a:srgbClr val="FAFAFA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8328" y="2761488"/>
            <a:ext cx="320040" cy="32004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" y="2761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27249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F"/>
                </a:solidFill>
              </a:rPr>
              <a:t>RMR is the answer — and ECs are coming for it too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7–10% RMR vs. 25%+ benchmark. The EC channel is now competing for the same recurring revenue pool.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3152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</a:rPr>
              <a:t>7–10%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45920" y="3474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vs. 25%+ benchmark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663440" y="2651760"/>
            <a:ext cx="4206240" cy="1234440"/>
          </a:xfrm>
          <a:prstGeom prst="rect">
            <a:avLst/>
          </a:prstGeom>
          <a:solidFill>
            <a:srgbClr val="FAFAFA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73168" y="2761488"/>
            <a:ext cx="320040" cy="32004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2761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66360" y="27249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F"/>
                </a:solidFill>
              </a:rPr>
              <a:t>The window is shorter than we thought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6636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ArchKey hiring NICET staff now. Apollo in IPS geography. PE M&amp;A assembles fire capability in 90 days. 3–5 years may be 18–24 months for key accounts.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516636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18–24mo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80760" y="3474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for key accounts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0" y="4023360"/>
            <a:ext cx="9144000" cy="59436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THE QUESTION: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Three convergence fronts. EC consolidation compressing the window. A partner buyout that makes growth existential. The internal analysis answers what IPS has to work with, and how fast it can move.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Sources: PitchBook · Capstone Partners · FMI Capital Advisors · APi Group 10-K · IPS Leadership Meetings · Team Analysis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 External Strategic Analysis - The Convergence Squeeze</dc:title>
  <dc:subject>PptxGenJS Presentation</dc:subject>
  <dc:creator>Xavier EMBA Capstone Team</dc:creator>
  <cp:lastModifiedBy>Xavier EMBA Capstone Team</cp:lastModifiedBy>
  <cp:revision>1</cp:revision>
  <dcterms:created xsi:type="dcterms:W3CDTF">2026-03-29T02:06:50Z</dcterms:created>
  <dcterms:modified xsi:type="dcterms:W3CDTF">2026-03-29T02:06:50Z</dcterms:modified>
</cp:coreProperties>
</file>