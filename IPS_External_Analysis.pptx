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0"/>
            <a:ext cx="2468880" cy="1920240"/>
          </a:xfrm>
          <a:prstGeom prst="rect">
            <a:avLst/>
          </a:prstGeom>
          <a:solidFill>
            <a:srgbClr val="E8E9F7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0"/>
            <a:ext cx="640080" cy="1920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0" y="228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IPS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675120" y="1234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808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Cincinnati | Columbus | Lexington</a:t>
            </a:r>
            <a:endParaRPr lang="en-US" sz="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808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Nashville | National Accounts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EMBA CAPSTONE  |  MAY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Strategic Analysis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950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Integrated Protection Services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08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Convergence Squeeze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371600" cy="27432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  |  Eger  |  McKean  |  Peat  |  Tucker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86400" cy="914400"/>
          </a:xfrm>
          <a:prstGeom prst="rect">
            <a:avLst/>
          </a:prstGeom>
          <a:solidFill>
            <a:srgbClr val="F5F5F8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931920"/>
            <a:ext cx="54864" cy="914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7764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950BC"/>
                </a:solidFill>
              </a:rPr>
              <a:t>ONE-SENTENCE THESIS
</a:t>
            </a:r>
            <a:endParaRPr lang="en-US" sz="7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The fire and security industry is converging with IT, cybersecurity, and building automation into a single building intelligence industry. PE firms are assembling the pieces, and IPS has a 3–5 year window to position as the independent alternative.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C7C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1: THE WORLD YOU BUILT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Industry Landscape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C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EMBA Capstone ·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4864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DC2626"/>
                </a:solidFill>
              </a:rPr>
              <a:t>NAICS 238210
</a:t>
            </a:r>
            <a:endParaRPr lang="en-US" sz="7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A1F"/>
                </a:solidFill>
              </a:rPr>
              <a:t>Fire Protection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48F"/>
                </a:solidFill>
              </a:rPr>
              <a:t>$10.9B U.S. revenue · code-mandated demand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84048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202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F"/>
                </a:solidFill>
              </a:rPr>
              <a:t>Fire Alarm Systems — Detection, notification, control panels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84048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774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F"/>
                </a:solidFill>
              </a:rPr>
              <a:t>Fire Suppression — Sprinkler, clean agent, foam systems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384048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346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F"/>
                </a:solidFill>
              </a:rPr>
              <a:t>Inspection &amp; Testing — Code-mandated annual service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384048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918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F"/>
                </a:solidFill>
              </a:rPr>
              <a:t>Emergency Systems — Exit lighting, mass notification, ERCES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46320" y="1097280"/>
            <a:ext cx="54864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0515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</a:rPr>
              <a:t>NAICS 561621
</a:t>
            </a:r>
            <a:endParaRPr lang="en-US" sz="7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A1F"/>
                </a:solidFill>
              </a:rPr>
              <a:t>Electronic Security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029200" y="16002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48F"/>
                </a:solidFill>
              </a:rPr>
              <a:t>$11.2B U.S. revenue · subscription-driven shift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46320" y="1920240"/>
            <a:ext cx="384048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9202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F"/>
                </a:solidFill>
              </a:rPr>
              <a:t>Access Control — Card readers, credential management, ACaaS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46320" y="2377440"/>
            <a:ext cx="384048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3774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F"/>
                </a:solidFill>
              </a:rPr>
              <a:t>Video Surveillance — IP cameras, VMS, AI analytics, VSaaS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46320" y="2834640"/>
            <a:ext cx="384048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8346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F"/>
                </a:solidFill>
              </a:rPr>
              <a:t>Intrusion Detection — Sensors, panels, monitoring services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846320" y="3291840"/>
            <a:ext cx="384048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2918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F"/>
                </a:solidFill>
              </a:rPr>
              <a:t>Managed Services — Remote monitoring, health checks, helpdesk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06240" y="2514600"/>
            <a:ext cx="502920" cy="502920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9" name="Text 27"/>
          <p:cNvSpPr/>
          <p:nvPr/>
        </p:nvSpPr>
        <p:spPr>
          <a:xfrm>
            <a:off x="42062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1A1A1F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40416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9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$22B+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4360" y="4407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Combined U.S. installer market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221992" y="40416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9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50,000+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221992" y="4407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Firms nationally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849624" y="40416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9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849624" y="4407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Under $5M revenue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477256" y="40416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9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7.5%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77256" y="4407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Fire alarm CAGR 2025–35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104888" y="40416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9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6.8%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04888" y="4407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Electronic security CAGR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0848F"/>
                </a:solidFill>
              </a:rPr>
              <a:t>Sources: Plunkett Research (via Xavier/Gale) · SDM Magazine · NFPA 72 (2025) · BLS · ConstructConnect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C7C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1: THE WORLD YOU BUILT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Macro Environment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C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PESTEL Analysis  ·  13 of 17 macro trends favorable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697480" cy="187452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332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200" kern="0" dirty="0">
                <a:solidFill>
                  <a:srgbClr val="166534"/>
                </a:solidFill>
              </a:rPr>
              <a:t>POLITICAL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2057400" y="10332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66534"/>
                </a:solidFill>
              </a:rPr>
              <a:t>TAILWIND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F"/>
                </a:solidFill>
              </a:rPr>
              <a:t>Federal &amp; State Security Mandates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34"/>
                </a:solidFill>
              </a:rPr>
              <a:t>$1B+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annual federal security grants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DHS/FEMA HSGP: $1.008B allocated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Ohio Alyssa’s Law — panic buttons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NDAA §889 bans Chinese equipment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697480" cy="187452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0332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200" kern="0" dirty="0">
                <a:solidFill>
                  <a:srgbClr val="166534"/>
                </a:solidFill>
              </a:rPr>
              <a:t>ECONOMIC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937760" y="10332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66534"/>
                </a:solidFill>
              </a:rPr>
              <a:t>TAILWIND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3337560" y="1234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F"/>
                </a:solidFill>
              </a:rPr>
              <a:t>Construction Boom in Key Markets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508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34"/>
                </a:solidFill>
              </a:rPr>
              <a:t>$3.7B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37560" y="180136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data center construction +25% YoY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33756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Columbus: #3 U.S. data center market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Nashville: #2 metro for job growth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Every new building needs fire + security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080760" y="960120"/>
            <a:ext cx="2697480" cy="1874520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0332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200" kern="0" dirty="0">
                <a:solidFill>
                  <a:srgbClr val="92400E"/>
                </a:solidFill>
              </a:rPr>
              <a:t>SOCIAL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7818120" y="10332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HEADWIND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6217920" y="1234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F"/>
                </a:solidFill>
              </a:rPr>
              <a:t>Skilled Technician Shortage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1508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2400E"/>
                </a:solidFill>
              </a:rPr>
              <a:t>50%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17920" y="180136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of firms cite hiring difficulty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621792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NICET IV takes 10+ years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Retiring workforce widening gap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Caps growth for every competitor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20040" y="2971800"/>
            <a:ext cx="2697480" cy="187452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44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200" kern="0" dirty="0">
                <a:solidFill>
                  <a:srgbClr val="166534"/>
                </a:solidFill>
              </a:rPr>
              <a:t>TECHNOLOGICAL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2057400" y="304495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66534"/>
                </a:solidFill>
              </a:rPr>
              <a:t>TAILWIND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457200" y="3246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F"/>
                </a:solidFill>
              </a:rPr>
              <a:t>Cloud Migration Accelerating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34"/>
                </a:solidFill>
              </a:rPr>
              <a:t>17.9%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57200" y="381304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ACaaS CAGR · VSaaS at 16.1%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457200" y="4023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CapEx-to-OpEx shift: subscriptions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82% planning cloud access control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AI video analytics now standard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200400" y="2971800"/>
            <a:ext cx="2697480" cy="187452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3044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200" kern="0" dirty="0">
                <a:solidFill>
                  <a:srgbClr val="166534"/>
                </a:solidFill>
              </a:rPr>
              <a:t>ENVIRONMENTAL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937760" y="304495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66534"/>
                </a:solidFill>
              </a:rPr>
              <a:t>TAILWIND</a:t>
            </a:r>
            <a:endParaRPr lang="en-US" sz="550" dirty="0"/>
          </a:p>
        </p:txBody>
      </p:sp>
      <p:sp>
        <p:nvSpPr>
          <p:cNvPr id="37" name="Text 35"/>
          <p:cNvSpPr/>
          <p:nvPr/>
        </p:nvSpPr>
        <p:spPr>
          <a:xfrm>
            <a:off x="3337560" y="3246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F"/>
                </a:solidFill>
              </a:rPr>
              <a:t>Climate Resilience Driving Demand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37560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34"/>
                </a:solidFill>
              </a:rPr>
              <a:t>38%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337560" y="381304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increase in FEMA declarations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3337560" y="4023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Extreme weather → fire/safety demand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Green building codes require monitoring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Energy-efficient systems gaining spec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080760" y="2971800"/>
            <a:ext cx="2697480" cy="187452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3044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200" kern="0" dirty="0">
                <a:solidFill>
                  <a:srgbClr val="166534"/>
                </a:solidFill>
              </a:rPr>
              <a:t>LEGAL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7818120" y="304495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66534"/>
                </a:solidFill>
              </a:rPr>
              <a:t>TAILWIND</a:t>
            </a:r>
            <a:endParaRPr lang="en-US" sz="550" dirty="0"/>
          </a:p>
        </p:txBody>
      </p:sp>
      <p:sp>
        <p:nvSpPr>
          <p:cNvPr id="44" name="Text 42"/>
          <p:cNvSpPr/>
          <p:nvPr/>
        </p:nvSpPr>
        <p:spPr>
          <a:xfrm>
            <a:off x="6217920" y="3246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F"/>
                </a:solidFill>
              </a:rPr>
              <a:t>Code Tightening Creates Demand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17920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34"/>
                </a:solidFill>
              </a:rPr>
              <a:t>NFPA 72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217920" y="381304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848F"/>
                </a:solidFill>
              </a:rPr>
              <a:t>2025 mandates cyber for fire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217920" y="4023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ERCES mandates expanding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State school security laws funded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A1A1F"/>
                </a:solidFill>
              </a:rPr>
              <a:t>Fire inspection: legally required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0848F"/>
                </a:solidFill>
              </a:rPr>
              <a:t>Sources: FEMA.gov · Plunkett Research · SDM Magazine · NFPA 72 (2025) · BLS · ConstructConnect · Team PESTEL Workbook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Industries Becoming One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C7C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2: THE INDUSTRY IS CONVERGING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474720" cy="3200400"/>
          </a:xfrm>
          <a:prstGeom prst="ellipse">
            <a:avLst/>
          </a:prstGeom>
          <a:solidFill>
            <a:srgbClr val="1A1A2E">
              <a:alpha val="85000"/>
            </a:srgbClr>
          </a:solidFill>
          <a:ln w="254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FIRE &amp; LIFE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SAFETY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$33.2B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NAICS 238210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3474720" cy="3200400"/>
          </a:xfrm>
          <a:prstGeom prst="ellipse">
            <a:avLst/>
          </a:prstGeom>
          <a:solidFill>
            <a:srgbClr val="0D9488">
              <a:alpha val="85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128016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ELECTRONIC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SECURITY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$33.2B+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NAICS 561621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20116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F"/>
                </a:solidFill>
              </a:rPr>
              <a:t>CONVERGED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A1A1F"/>
                </a:solidFill>
              </a:rPr>
              <a:t>BUILDING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A1A1F"/>
                </a:solidFill>
              </a:rPr>
              <a:t>INTELLIGENCE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217920" y="777240"/>
            <a:ext cx="13716" cy="4114800"/>
          </a:xfrm>
          <a:prstGeom prst="rect">
            <a:avLst/>
          </a:prstGeom>
          <a:solidFill>
            <a:srgbClr val="E8E9F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914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950BC"/>
                </a:solidFill>
              </a:rPr>
              <a:t>KEY DATA POINTS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400800" y="1234440"/>
            <a:ext cx="2468880" cy="548640"/>
          </a:xfrm>
          <a:prstGeom prst="rect">
            <a:avLst/>
          </a:prstGeom>
          <a:solidFill>
            <a:srgbClr val="F5F5F8"/>
          </a:solidFill>
          <a:ln w="6350">
            <a:solidFill>
              <a:srgbClr val="E8E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252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50BC"/>
                </a:solidFill>
              </a:rPr>
              <a:t>$256B+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1508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IPS addressable market (NAICS 561621 + 238210)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400800" y="1892808"/>
            <a:ext cx="2468880" cy="548640"/>
          </a:xfrm>
          <a:prstGeom prst="rect">
            <a:avLst/>
          </a:prstGeom>
          <a:solidFill>
            <a:srgbClr val="F5F5F8"/>
          </a:solidFill>
          <a:ln w="6350">
            <a:solidFill>
              <a:srgbClr val="E8E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9110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50BC"/>
                </a:solidFill>
              </a:rPr>
              <a:t>16–18%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2167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Cloud/XaaS CAGR vs. 4% base market growth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400800" y="2551176"/>
            <a:ext cx="2468880" cy="548640"/>
          </a:xfrm>
          <a:prstGeom prst="rect">
            <a:avLst/>
          </a:prstGeom>
          <a:solidFill>
            <a:srgbClr val="F5F5F8"/>
          </a:solidFill>
          <a:ln w="6350">
            <a:solidFill>
              <a:srgbClr val="E8E9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569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50BC"/>
                </a:solidFill>
              </a:rPr>
              <a:t>7.5%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28254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Addressable fire systems CAGR 2025–2035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400800" y="3209544"/>
            <a:ext cx="2468880" cy="548640"/>
          </a:xfrm>
          <a:prstGeom prst="rect">
            <a:avLst/>
          </a:prstGeom>
          <a:solidFill>
            <a:srgbClr val="F5F5F8"/>
          </a:solidFill>
          <a:ln w="6350">
            <a:solidFill>
              <a:srgbClr val="E8E9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227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50BC"/>
                </a:solidFill>
              </a:rPr>
              <a:t>NFPA 72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34838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2025 edition mandates cybersecurity for fire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400800" y="3867912"/>
            <a:ext cx="2468880" cy="548640"/>
          </a:xfrm>
          <a:prstGeom prst="rect">
            <a:avLst/>
          </a:prstGeom>
          <a:solidFill>
            <a:srgbClr val="F5F5F8"/>
          </a:solidFill>
          <a:ln w="6350">
            <a:solidFill>
              <a:srgbClr val="E8E9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50BC"/>
                </a:solidFill>
              </a:rPr>
              <a:t>71%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92240" y="4142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of organizations operating converged systems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0" y="4343400"/>
            <a:ext cx="9144000" cy="594360"/>
          </a:xfrm>
          <a:prstGeom prst="rect">
            <a:avLst/>
          </a:prstGeom>
          <a:solidFill>
            <a:srgbClr val="E8E9F7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KEY INSIGHT:  </a:t>
            </a:r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You describe yourselves as 50% fire, 50% security. The market is reorganizing into something bigger — and the lines between these categories are disappearing.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0848F"/>
                </a:solidFill>
              </a:rPr>
              <a:t>Source: Plunkett Research via Xavier/Gale | NFPA 72 (2025) | Team PESTEL Workbook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Who’s Assembling the Pieces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C7C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2: THE INDUSTRY IS CONVERGING</a:t>
            </a:r>
            <a:endParaRPr lang="en-US" sz="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97280"/>
                <a:gridCol w="1371600"/>
                <a:gridCol w="731520"/>
                <a:gridCol w="731520"/>
                <a:gridCol w="1005840"/>
                <a:gridCol w="26517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PE FIRM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FIRE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SECURITY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CLOUD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CYBER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SCALE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SIGNIFICANCE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Leonard Green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DC2626"/>
                          </a:solidFill>
                        </a:rPr>
                        <a:t>Pye-Barker $1B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DC2626"/>
                          </a:solidFill>
                        </a:rPr>
                        <a:t>Convergint $2.7B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66534"/>
                          </a:solidFill>
                        </a:rPr>
                        <a:t>YES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Via Deloitte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$3.7B combined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Controls #1 AND #2 PE platforms simultaneously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Lone Star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DC2626"/>
                          </a:solidFill>
                        </a:rPr>
                        <a:t>Kidde/Edwards $3B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80848F"/>
                          </a:solidFill>
                        </a:rPr>
                        <a:t>None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80848F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80848F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$3B OEM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Controls IPS’s primary fire supplier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GTCR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80848F"/>
                          </a:solidFill>
                        </a:rPr>
                        <a:t>None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DC2626"/>
                          </a:solidFill>
                        </a:rPr>
                        <a:t>Everon $782M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80848F"/>
                          </a:solidFill>
                        </a:rPr>
                        <a:t>SimpliSafe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80848F"/>
                          </a:solidFill>
                        </a:rPr>
                        <a:t>Limited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$782M+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Columbus + Louisville overlap with IPS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Honeywell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80848F"/>
                          </a:solidFill>
                        </a:rPr>
                        <a:t>—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DC2626"/>
                          </a:solidFill>
                        </a:rPr>
                        <a:t>LenelS2/Onity $4.95B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66534"/>
                          </a:solidFill>
                        </a:rPr>
                        <a:t>YES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66534"/>
                          </a:solidFill>
                        </a:rPr>
                        <a:t>YES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$4.95B+ access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Full stack: fire + security + building automation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Wind Point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D97706"/>
                          </a:solidFill>
                        </a:rPr>
                        <a:t>Via Pavion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DC2626"/>
                          </a:solidFill>
                        </a:rPr>
                        <a:t>Pavion $625M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66534"/>
                          </a:solidFill>
                        </a:rPr>
                        <a:t>YES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80848F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$625M+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15+ sister companies; regional M&amp;A rollup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Carlyle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D97706"/>
                          </a:solidFill>
                        </a:rPr>
                        <a:t>Sciens $390M+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80848F"/>
                          </a:solidFill>
                        </a:rPr>
                        <a:t>YES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80848F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80848F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$390M+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Expanding eastward into IPS markets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160520"/>
            <a:ext cx="9144000" cy="64008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4160520"/>
            <a:ext cx="9144000" cy="27432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1879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KEY INSIGHT:  </a:t>
            </a:r>
            <a:pPr indent="0" marL="0">
              <a:buNone/>
            </a:pPr>
            <a:r>
              <a:rPr lang="en-US" sz="900" dirty="0">
                <a:solidFill>
                  <a:srgbClr val="1A1A1F"/>
                </a:solidFill>
              </a:rPr>
              <a:t>242 security sector transactions in 2025 alone, up 24% year-over-year. One PE firm (Leonard Green) controls $3.7B in combined fire and security revenue. This is an industry reorganization — not competition.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0848F"/>
                </a:solidFill>
              </a:rPr>
              <a:t>Source: PitchBook (verified) | Capstone Partners Feb 2026 | SDM Magazine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Convergence Timeline: Three Waves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C7C9EF"/>
                </a:solidFill>
              </a:rPr>
              <a:t>ACT 2: THE INDUSTRY IS CONVERGING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974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9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05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0848F"/>
                </a:solidFill>
              </a:rPr>
              <a:t>WAVE 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950BC"/>
                </a:solidFill>
              </a:rPr>
              <a:t>2024–2026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F"/>
                </a:solidFill>
              </a:rPr>
              <a:t>Security + IT / Cyber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2697480" cy="2743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920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EA580C"/>
                </a:solidFill>
              </a:rPr>
              <a:t>HAPPENING NOW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F"/>
                </a:solidFill>
              </a:rPr>
              <a:t>IT departments becoming the primary security buyer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F"/>
                </a:solidFill>
              </a:rPr>
              <a:t>Cloud platforms (Brivo, Verkada) blurring IT and security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F"/>
                </a:solidFill>
              </a:rPr>
              <a:t>Convergint adds cybersecurity via Deloitte partnership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F"/>
                </a:solidFill>
              </a:rPr>
              <a:t>Managed services = IT service model applied to security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26974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9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1005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0848F"/>
                </a:solidFill>
              </a:rPr>
              <a:t>WAVE 2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38328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2026–2028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38328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F"/>
                </a:solidFill>
              </a:rPr>
              <a:t>Security + Building Automation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920240"/>
            <a:ext cx="2697480" cy="2743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1920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EA580C"/>
                </a:solidFill>
              </a:rPr>
              <a:t>COMING SOON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337560" y="22860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F"/>
                </a:solidFill>
              </a:rPr>
              <a:t>IoT connecting fire, HVAC, access, video into one network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F"/>
                </a:solidFill>
              </a:rPr>
              <a:t>71% of organizations already operating unified systems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F"/>
                </a:solidFill>
              </a:rPr>
              <a:t>Smart building platforms managing everything behind walls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F"/>
                </a:solidFill>
              </a:rPr>
              <a:t>Single-pane-of-glass monitoring across all building systems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080760" y="914400"/>
            <a:ext cx="26974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9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1005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0848F"/>
                </a:solidFill>
              </a:rPr>
              <a:t>WAVE 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26364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F"/>
                </a:solidFill>
              </a:rPr>
              <a:t>2028–2034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6364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F"/>
                </a:solidFill>
              </a:rPr>
              <a:t>Fire + Everything Else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0760" y="1920240"/>
            <a:ext cx="2697480" cy="2743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1920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B7280"/>
                </a:solidFill>
              </a:rPr>
              <a:t>SLOW BUT CERTAIN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217920" y="22860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F"/>
                </a:solidFill>
              </a:rPr>
              <a:t>NFPA 72 cyber requirements enforced (Chapter 11)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F"/>
                </a:solidFill>
              </a:rPr>
              <a:t>Cloud-connected fire monitoring growing at 8.2% CAGR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F"/>
                </a:solidFill>
              </a:rPr>
              <a:t>Addressable fire systems at 7.5% CAGR 2025–2035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F"/>
                </a:solidFill>
              </a:rPr>
              <a:t>Fire panels become nodes on building intelligence networks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0040" y="3977640"/>
            <a:ext cx="8503920" cy="594360"/>
          </a:xfrm>
          <a:prstGeom prst="rect">
            <a:avLst/>
          </a:prstGeom>
          <a:solidFill>
            <a:srgbClr val="E8E9F7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" y="3977640"/>
            <a:ext cx="45720" cy="5943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0050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950BC"/>
                </a:solidFill>
              </a:rPr>
              <a:t>IPS POSITION:  </a:t>
            </a:r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Fire is the last piece to converge — that’s why it’s your most valuable asset. But ‘last’ does not mean ‘never.’ The fire alarm moat buys you 3–5 years. The question is what you do with that time.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80848F"/>
                </a:solidFill>
              </a:rPr>
              <a:t>Source: Team PESTEL Workbook | Pete Keller Consultation (March 25, 2026) | NFPA 72 (2025)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C7C9EF"/>
                </a:solidFill>
              </a:rPr>
              <a:t>ACT 2: THE INDUSTRY IS CONVERGING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Group Map: 2025 (Today)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solidFill>
            <a:srgbClr val="F5F5F8"/>
          </a:solidFill>
          <a:ln w="12700">
            <a:solidFill>
              <a:srgbClr val="E8E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37160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848F"/>
                </a:solidFill>
              </a:rPr>
              <a:t>CHART PLACEHOLDER
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0848F"/>
                </a:solidFill>
              </a:rPr>
              <a:t>Export the Strategic Group Map from the web app as a screenshot
and replace this placeholder.
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950BC"/>
                </a:solidFill>
              </a:rPr>
              <a:t>Web app: https://ips-portal-xi.vercel.app/external/presentation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950BC"/>
                </a:solidFill>
              </a:rPr>
              <a:t>Navigate to slide 7 and take a screenshot.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137160" cy="137160"/>
          </a:xfrm>
          <a:prstGeom prst="ellipse">
            <a:avLst/>
          </a:prstGeom>
          <a:solidFill>
            <a:srgbClr val="CC1F1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241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PE-Backed Platforms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640080" y="1280160"/>
            <a:ext cx="137160" cy="137160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2527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Independent Integrators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40080" y="1508760"/>
            <a:ext cx="137160" cy="137160"/>
          </a:xfrm>
          <a:prstGeom prst="ellipse">
            <a:avLst/>
          </a:prstGeom>
          <a:solidFill>
            <a:srgbClr val="80848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4813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Cloud-Native Disruptors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40080" y="1737360"/>
            <a:ext cx="137160" cy="137160"/>
          </a:xfrm>
          <a:prstGeom prst="ellipse">
            <a:avLst/>
          </a:prstGeom>
          <a:solidFill>
            <a:srgbClr val="D9661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7099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Converged Giants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C7C9EF"/>
                </a:solidFill>
              </a:rPr>
              <a:t>ACT 2: THE INDUSTRY IS CONVERGING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Group Map: 2028 (Projected Movement)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0" y="201168"/>
            <a:ext cx="182880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201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2028 PROJECTED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solidFill>
            <a:srgbClr val="F5F5F8"/>
          </a:solidFill>
          <a:ln w="12700">
            <a:solidFill>
              <a:srgbClr val="E8E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37160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848F"/>
                </a:solidFill>
              </a:rPr>
              <a:t>CHART PLACEHOLDER
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0848F"/>
                </a:solidFill>
              </a:rPr>
              <a:t>Export the Strategic Group Map from the web app as a screenshot
and replace this placeholder.
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950BC"/>
                </a:solidFill>
              </a:rPr>
              <a:t>Web app: https://ips-portal-xi.vercel.app/external/presentation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950BC"/>
                </a:solidFill>
              </a:rPr>
              <a:t>Navigate to slide 8 and take a screenshot.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051560"/>
            <a:ext cx="137160" cy="137160"/>
          </a:xfrm>
          <a:prstGeom prst="ellipse">
            <a:avLst/>
          </a:prstGeom>
          <a:solidFill>
            <a:srgbClr val="CC1F1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0241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PE-Backed Platforms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40080" y="1280160"/>
            <a:ext cx="137160" cy="137160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2527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Independent Integrators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40080" y="1508760"/>
            <a:ext cx="137160" cy="137160"/>
          </a:xfrm>
          <a:prstGeom prst="ellipse">
            <a:avLst/>
          </a:prstGeom>
          <a:solidFill>
            <a:srgbClr val="80848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4813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Cloud-Native Disruptors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40080" y="1737360"/>
            <a:ext cx="137160" cy="137160"/>
          </a:xfrm>
          <a:prstGeom prst="ellipse">
            <a:avLst/>
          </a:prstGeom>
          <a:solidFill>
            <a:srgbClr val="D9661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17099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F"/>
                </a:solidFill>
              </a:rPr>
              <a:t>Converged Giants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Convergence Squeeze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C7C9EF"/>
                </a:solidFill>
              </a:rPr>
              <a:t>ACT 2: THE INDUSTRY IS CONVERGING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6035040" cy="1051560"/>
          </a:xfrm>
          <a:prstGeom prst="rect">
            <a:avLst/>
          </a:prstGeom>
          <a:solidFill>
            <a:srgbClr val="FDE8E8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F"/>
                </a:solidFill>
              </a:rPr>
              <a:t>ABOVE: PE-Backed Converged Platforms</a:t>
            </a:r>
            <a:endParaRPr lang="en-US" sz="1000" dirty="0"/>
          </a:p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</a:rPr>
              <a:t>Convergint + Deloitte cyber  |  Pye-Barker 57 acq/yr  |  Allied Universal $20B+
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They offer everything IPS offers PLUS cybersecurity, IT managed services, national scale, and subscription platforms.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960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</a:rPr>
              <a:t>PRESSING DOWN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2743200" y="2011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▼  ▼  ▼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2011680"/>
            <a:ext cx="1371600" cy="256032"/>
          </a:xfrm>
          <a:prstGeom prst="rect">
            <a:avLst/>
          </a:prstGeom>
          <a:solidFill>
            <a:srgbClr val="1A1A1F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2011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▼  ▼  ▼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6035040" cy="914400"/>
          </a:xfrm>
          <a:prstGeom prst="rect">
            <a:avLst/>
          </a:prstGeom>
          <a:solidFill>
            <a:srgbClr val="F0F1FB"/>
          </a:solidFill>
          <a:ln w="25400">
            <a:solidFill>
              <a:srgbClr val="4950B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3774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950BC"/>
                </a:solidFill>
              </a:rPr>
              <a:t>MIDDLE: IPS ($55M)</a:t>
            </a:r>
            <a:endParaRPr lang="en-US" sz="10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1A1F"/>
                </a:solidFill>
              </a:rPr>
              <a:t>Full-service regional fire + security integrator
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Strong today — but addressable market narrows if you stay here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3310128"/>
            <a:ext cx="1371600" cy="256032"/>
          </a:xfrm>
          <a:prstGeom prst="rect">
            <a:avLst/>
          </a:prstGeom>
          <a:solidFill>
            <a:srgbClr val="1A1A1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▲  ▲  ▲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3630168"/>
            <a:ext cx="6035040" cy="91440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75888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BELOW: Cloud-Native Disruptors + IT/EC Entrants</a:t>
            </a:r>
            <a:endParaRPr lang="en-US" sz="1000" dirty="0"/>
          </a:p>
          <a:p>
            <a:pPr indent="0" marL="0">
              <a:buNone/>
            </a:pPr>
            <a:r>
              <a:rPr lang="en-US" sz="800" b="1" dirty="0">
                <a:solidFill>
                  <a:srgbClr val="374151"/>
                </a:solidFill>
              </a:rPr>
              <a:t>Verkada $4.5B direct-to-end-user  |  ECs adding low-voltage  |  IT/MSPs entering security
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Lower cost, subscription-first, capturing the easier security work.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3675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0848F"/>
                </a:solidFill>
              </a:rPr>
              <a:t>PRESSING UP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6675120" y="9144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950BC"/>
                </a:solidFill>
              </a:rPr>
              <a:t>THE MATH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675120" y="1234440"/>
            <a:ext cx="2103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9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950BC"/>
                </a:solidFill>
              </a:rPr>
              <a:t>3–5 yr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66560" y="1645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window to act before squeeze tightens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675120" y="2075688"/>
            <a:ext cx="2103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9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66560" y="21214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950BC"/>
                </a:solidFill>
              </a:rPr>
              <a:t>57/yr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66560" y="24871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acquisitions by Pye-Barker alone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675120" y="2916936"/>
            <a:ext cx="2103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9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66560" y="29626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950BC"/>
                </a:solidFill>
              </a:rPr>
              <a:t>$3.7B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66560" y="33284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combined revenue under one PE firm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675120" y="3758184"/>
            <a:ext cx="2103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9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66560" y="38039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950BC"/>
                </a:solidFill>
              </a:rPr>
              <a:t>242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766560" y="41696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PE deals in 2025, up 24% YoY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1A1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You’re not losing today. But the ceiling is lowering and the floor is rising. In 3–5 years, the middle narrows significantly for companies that only offer traditional fire + security integration.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IPS vs. The Field: Competitor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C7C9EF"/>
                </a:solidFill>
              </a:rPr>
              <a:t>ACT 2: THE INDUSTRY IS CONVERGING</a:t>
            </a:r>
            <a:endParaRPr lang="en-US" sz="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005840"/>
                <a:gridCol w="1188720"/>
                <a:gridCol w="118872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80848F"/>
                          </a:solidFill>
                        </a:rPr>
                        <a:t>DIMENSION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4950BC"/>
                          </a:solidFill>
                        </a:rPr>
                        <a:t>IPS ★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80848F"/>
                          </a:solidFill>
                        </a:rPr>
                        <a:t>SILCO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80848F"/>
                          </a:solidFill>
                        </a:rPr>
                        <a:t>CONVERGINT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80848F"/>
                          </a:solidFill>
                        </a:rPr>
                        <a:t>PYE-BARKER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80848F"/>
                          </a:solidFill>
                        </a:rPr>
                        <a:t>EVERON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F"/>
                          </a:solidFill>
                        </a:rPr>
                        <a:t>Revenue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4950BC"/>
                          </a:solidFill>
                        </a:rPr>
                        <a:t>$55M / $64M budget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$60–80M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$2.7B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$1.0B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$782M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F"/>
                          </a:solidFill>
                        </a:rPr>
                        <a:t>Ownership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4950BC"/>
                          </a:solidFill>
                        </a:rPr>
                        <a:t>Independent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Independent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PE (Leonard Green)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PE (Leonard Green)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PE (GTCR)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F"/>
                          </a:solidFill>
                        </a:rPr>
                        <a:t>Fire + Security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4950BC"/>
                          </a:solidFill>
                        </a:rPr>
                        <a:t>Both — bundled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Both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Both + cyber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Fire-heavy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Both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F"/>
                          </a:solidFill>
                        </a:rPr>
                        <a:t>Cybersecurity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DC2626"/>
                          </a:solidFill>
                        </a:rPr>
                        <a:t>GAP — none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None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YES via Deloitte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Limited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Limited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F"/>
                          </a:solidFill>
                        </a:rPr>
                        <a:t>Cloud / XaaS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4950BC"/>
                          </a:solidFill>
                        </a:rPr>
                        <a:t>Brivo + Eagle Eye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Limited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YES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Limited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YES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F"/>
                          </a:solidFill>
                        </a:rPr>
                        <a:t>RMR %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DC2626"/>
                          </a:solidFill>
                        </a:rPr>
                        <a:t>Sub-20% GAP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Unknown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Higher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Higher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Higher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F"/>
                          </a:solidFill>
                        </a:rPr>
                        <a:t>NICET IV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4950BC"/>
                          </a:solidFill>
                        </a:rPr>
                        <a:t>YES — 10-yr advantage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Not confirmed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Likely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Not confirmed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Likely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F"/>
                          </a:solidFill>
                        </a:rPr>
                        <a:t>Growth Model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4950BC"/>
                          </a:solidFill>
                        </a:rPr>
                        <a:t>Organic 20%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Organic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M&amp;A — 22+ deals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M&amp;A — 57/yr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M&amp;A-driven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1F"/>
                          </a:solidFill>
                        </a:rPr>
                        <a:t>Local Markets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4950BC"/>
                          </a:solidFill>
                        </a:rPr>
                        <a:t>OH/KY/TN/IN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5 OH offices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Cincy + Nashville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Cincy + KY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F"/>
                          </a:solidFill>
                        </a:rPr>
                        <a:t>Columbus + Louisville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206240"/>
            <a:ext cx="8595360" cy="502920"/>
          </a:xfrm>
          <a:prstGeom prst="rect">
            <a:avLst/>
          </a:prstGeom>
          <a:solidFill>
            <a:srgbClr val="E8E9F7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950BC"/>
                </a:solidFill>
              </a:rPr>
              <a:t>KEY INSIGHT:  </a:t>
            </a:r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IPS wins on quality, speed, culture, and fire expertise. Competitors win on scale, capital, and breadth. The converged industry rewards BOTH — the question is adding breadth without losing what makes IPS different.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0848F"/>
                </a:solidFill>
              </a:rPr>
              <a:t>Source: PitchBook · SDM Top Systems Integrators (2025) · IPS Leadership Meeting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C7C9EF"/>
                </a:solidFill>
              </a:rPr>
              <a:t>EXTERNAL ANALYSIS: SYNTHESIS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External Environment Tells Us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365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C9EF"/>
                </a:solidFill>
              </a:rPr>
              <a:t>Xavier EMBA Capstone ·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14800" cy="1371600"/>
          </a:xfrm>
          <a:prstGeom prst="rect">
            <a:avLst/>
          </a:prstGeom>
          <a:solidFill>
            <a:srgbClr val="FAFAFA"/>
          </a:solidFill>
          <a:ln w="6350">
            <a:solidFill>
              <a:srgbClr val="E8E9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143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F"/>
                </a:solidFill>
              </a:rPr>
              <a:t>The industry is converging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417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</a:rPr>
              <a:t>Fire, security, IT, and cybersecurity are merging into a single “building intelligence” market. NFPA 72 (2025) mandates cybersecurity for networked fire systems. 71% of organizations already operate unified platforms.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50BC"/>
                </a:solidFill>
              </a:rPr>
              <a:t>71%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57400" y="2011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0848F"/>
                </a:solidFill>
              </a:rPr>
              <a:t>already unified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709160" y="1051560"/>
            <a:ext cx="4114800" cy="1371600"/>
          </a:xfrm>
          <a:prstGeom prst="rect">
            <a:avLst/>
          </a:prstGeom>
          <a:solidFill>
            <a:srgbClr val="FAFAFA"/>
          </a:solidFill>
          <a:ln w="6350">
            <a:solidFill>
              <a:srgbClr val="E8E9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18872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49240" y="1143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F"/>
                </a:solidFill>
              </a:rPr>
              <a:t>PE is assembling the pieces at unprecedented speed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49240" y="1417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</a:rPr>
              <a:t>Private equity firms are systematically buying across every layer — fire, security, cloud, cyber, monitoring — and combining them into integrated platforms.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34924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242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6520" y="2011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0848F"/>
                </a:solidFill>
              </a:rPr>
              <a:t>deals in 2025 (+24% YoY)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0040" y="2560320"/>
            <a:ext cx="4114800" cy="1371600"/>
          </a:xfrm>
          <a:prstGeom prst="rect">
            <a:avLst/>
          </a:prstGeom>
          <a:solidFill>
            <a:srgbClr val="FAFAFA"/>
          </a:solidFill>
          <a:ln w="6350">
            <a:solidFill>
              <a:srgbClr val="E8E9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697480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F"/>
                </a:solidFill>
              </a:rPr>
              <a:t>The middle is getting squeezed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2926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</a:rPr>
              <a:t>PE-backed nationals are pressing down. Cloud-native disruptors are pressing up. Every IPS market now has at least one PE-backed competitor with broader capabilities.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60120" y="3474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$20B+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057400" y="3520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0848F"/>
                </a:solidFill>
              </a:rPr>
              <a:t>Allied Universal alone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709160" y="2560320"/>
            <a:ext cx="4114800" cy="1371600"/>
          </a:xfrm>
          <a:prstGeom prst="rect">
            <a:avLst/>
          </a:prstGeom>
          <a:solidFill>
            <a:srgbClr val="FAFAFA"/>
          </a:solidFill>
          <a:ln w="6350">
            <a:solidFill>
              <a:srgbClr val="E8E9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2697480"/>
            <a:ext cx="365760" cy="36576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4924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F"/>
                </a:solidFill>
              </a:rPr>
              <a:t>The window is 3–5 years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49240" y="2926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</a:rPr>
              <a:t>Fire alarm is the last piece to converge — that buys time. But addressable fire systems are the fastest-growing segment (7.5% CAGR) and NFPA 72 cyber enforcement is coming.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349240" y="3474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34"/>
                </a:solidFill>
              </a:rPr>
              <a:t>3–5 yr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446520" y="3520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0848F"/>
                </a:solidFill>
              </a:rPr>
              <a:t>before fire fully converges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0" y="4160520"/>
            <a:ext cx="9144000" cy="640080"/>
          </a:xfrm>
          <a:prstGeom prst="rect">
            <a:avLst/>
          </a:prstGeom>
          <a:solidFill>
            <a:srgbClr val="1A1A1F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C9EF"/>
                </a:solidFill>
              </a:rPr>
              <a:t>THE QUESTION: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The external environment frames the challenge. The internal analysis answers it — what does IPS have to work with, and what strategic paths does the converged industry create?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80848F"/>
                </a:solidFill>
              </a:rPr>
              <a:t>Sources: Plunkett Research · PitchBook · NFPA 72 (2025) · Capstone Partners · SDM Magazine · Team PESTEL Workbook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IPS External Strategic Analysis — The Convergence Squeeze</dc:title>
  <dc:subject>PptxGenJS Presentation</dc:subject>
  <dc:creator>Xavier EMBA Capstone Team</dc:creator>
  <cp:lastModifiedBy>Xavier EMBA Capstone Team</cp:lastModifiedBy>
  <cp:revision>1</cp:revision>
  <dcterms:created xsi:type="dcterms:W3CDTF">2026-03-28T00:28:03Z</dcterms:created>
  <dcterms:modified xsi:type="dcterms:W3CDTF">2026-03-28T00:28:03Z</dcterms:modified>
</cp:coreProperties>
</file>